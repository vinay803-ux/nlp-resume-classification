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3"/>
    <p:sldId id="257" r:id="rId4"/>
    <p:sldId id="258" r:id="rId5"/>
    <p:sldId id="259" r:id="rId6"/>
    <p:sldId id="288" r:id="rId7"/>
    <p:sldId id="260" r:id="rId8"/>
    <p:sldId id="287" r:id="rId9"/>
    <p:sldId id="282" r:id="rId10"/>
    <p:sldId id="283" r:id="rId11"/>
    <p:sldId id="266" r:id="rId12"/>
    <p:sldId id="276" r:id="rId13"/>
    <p:sldId id="277" r:id="rId14"/>
    <p:sldId id="278" r:id="rId15"/>
    <p:sldId id="284" r:id="rId16"/>
    <p:sldId id="274" r:id="rId17"/>
    <p:sldId id="285" r:id="rId18"/>
    <p:sldId id="28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AFF1F-572F-4BE4-9AF4-A305D8B65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0D2D526-5B7D-481B-A614-13D9C6F8FDB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857" y="1015717"/>
            <a:ext cx="10252755" cy="5287112"/>
          </a:xfrm>
        </p:spPr>
        <p:txBody>
          <a:bodyPr/>
          <a:lstStyle/>
          <a:p>
            <a:pPr marL="0" indent="0">
              <a:buNone/>
            </a:pPr>
            <a:r>
              <a:rPr lang="en-US" sz="7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Resume Classification</a:t>
            </a:r>
            <a:br>
              <a:rPr lang="en-US" sz="7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72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7200" b="1" i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br>
              <a:rPr lang="en-US" sz="2000" i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i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Arial Narrow" panose="020B0606020202030204" pitchFamily="34" charset="0"/>
              </a:rPr>
            </a:br>
            <a:r>
              <a:rPr lang="en-US" i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Arial Narrow" panose="020B0606020202030204" pitchFamily="34" charset="0"/>
              </a:rPr>
              <a:t>                              </a:t>
            </a:r>
            <a:r>
              <a:rPr lang="en-US" sz="4400" b="1" spc="-300" dirty="0" err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ExceLR</a:t>
            </a:r>
            <a:r>
              <a:rPr lang="en-US" sz="4400" b="1" spc="-3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Project - Group 6</a:t>
            </a:r>
            <a:endParaRPr lang="en-IN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Members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0290"/>
          </a:xfrm>
        </p:spPr>
        <p:txBody>
          <a:bodyPr>
            <a:noAutofit/>
          </a:bodyPr>
          <a:lstStyle/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LIVIN K GEORGE</a:t>
            </a: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AKHILESH LAXMAN</a:t>
            </a: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ABDUL DANISH</a:t>
            </a: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IN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PUPPALA NITHIN</a:t>
            </a:r>
            <a:endParaRPr lang="en-IN" sz="3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IN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DEPURI VINAY</a:t>
            </a:r>
            <a:endParaRPr lang="en-IN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MEKALA LOHITH</a:t>
            </a: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ABINASH BEHARA</a:t>
            </a:r>
            <a:endParaRPr lang="en-US" alt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2971" y="624110"/>
            <a:ext cx="9501641" cy="128089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971" y="1905000"/>
            <a:ext cx="9425441" cy="3777622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 a Resume Classification System that automatically categorizes resumes into relevant job domains such as Peoplesoft resumes, SQL Developer Lightning insight, workday resumes and React JS Developer.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system leverages Natural Language Processing (NLP) and Machine Learning to analyze resume text, extract key skills, and match them to suitable job profiles.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8543" y="624110"/>
            <a:ext cx="9556069" cy="128089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 Details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8543" y="1796141"/>
            <a:ext cx="8911687" cy="4169229"/>
          </a:xfrm>
        </p:spPr>
        <p:txBody>
          <a:bodyPr>
            <a:normAutofit fontScale="92500" lnSpcReduction="10000"/>
          </a:bodyPr>
          <a:lstStyle/>
          <a:p>
            <a:r>
              <a:rPr lang="en-US" sz="35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Collected from </a:t>
            </a:r>
            <a:r>
              <a:rPr lang="en-US" sz="35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ExceLR</a:t>
            </a:r>
            <a:r>
              <a:rPr lang="en-US" sz="35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project team</a:t>
            </a:r>
            <a:endParaRPr lang="en-US" sz="35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samples: 79 resumes</a:t>
            </a:r>
            <a:endParaRPr lang="en-US" sz="3500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Features: Resume text, Category (target)</a:t>
            </a:r>
            <a:endParaRPr lang="en-US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Categories include: as Peoplesoft resumes, SQL Developer Lightning insight, workday resumes 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React JS Developer.</a:t>
            </a:r>
            <a:endParaRPr lang="en-US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cleaned, balanced, and preprocessed for text analysis.</a:t>
            </a:r>
            <a:endParaRPr lang="en-US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7417" y="624110"/>
            <a:ext cx="9627196" cy="128089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Resume Categories</a:t>
            </a:r>
            <a:endParaRPr lang="en-IN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417" y="2031097"/>
            <a:ext cx="8437165" cy="420279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1" y="624110"/>
            <a:ext cx="10439400" cy="98697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Exploratory Data Analysis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1" y="1741714"/>
            <a:ext cx="9329056" cy="4114800"/>
          </a:xfrm>
        </p:spPr>
        <p:txBody>
          <a:bodyPr>
            <a:normAutofit fontScale="92500" lnSpcReduction="20000"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Checked for missing values and distribution of resume categories.</a:t>
            </a: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heavily skewed towards as Peoplesoft resumes, SQL Developer Lightning insight, workday resumes and React JS Developer.</a:t>
            </a: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 Cloud visualizations show dominant keywords for each domain.</a:t>
            </a: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React Developer resume contain ‘React’, ‘Bootstrap’, ‘JavaScript’ and ‘JSON’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1" y="624110"/>
            <a:ext cx="9599612" cy="128089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 Cloud Of Resume Text</a:t>
            </a:r>
            <a:endParaRPr lang="en-IN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3" y="1774372"/>
            <a:ext cx="8512629" cy="4332514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1" y="624110"/>
            <a:ext cx="9675812" cy="128089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 Preprocessing</a:t>
            </a:r>
            <a:endParaRPr lang="en-IN" sz="4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1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Removed punctuation, special characters, and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stopwords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Tokenized resume text into words.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Applied lemmatization using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spaCy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/NLTK.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Converted text to lowercase.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Prepared cleaned text corpus for vectorization</a:t>
            </a:r>
            <a:endParaRPr lang="en-IN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486" y="624110"/>
            <a:ext cx="9741127" cy="1095833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Extraction</a:t>
            </a:r>
            <a:endParaRPr lang="en-IN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3411" y="1600199"/>
            <a:ext cx="9428618" cy="4278085"/>
          </a:xfrm>
        </p:spPr>
        <p:txBody>
          <a:bodyPr>
            <a:normAutofit fontScale="92500" lnSpcReduction="10000"/>
          </a:bodyPr>
          <a:lstStyle/>
          <a:p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TF-IDF Vectorizer to convert text into numerical features.</a:t>
            </a:r>
            <a:endParaRPr lang="en-US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vocabulary to top 200-300 most frequent words.</a:t>
            </a:r>
            <a:endParaRPr lang="en-US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TF-IDF helps capture importance of terms relative to each resume.</a:t>
            </a:r>
            <a:endParaRPr lang="en-US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Result: High-dimensional sparse feature matrix used for classification.</a:t>
            </a:r>
            <a:endParaRPr lang="en-US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588280"/>
            <a:ext cx="9742487" cy="128089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1 – Naive Bayes Classifier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28800" y="1637638"/>
            <a:ext cx="808808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Algorithm: Multinomial Naive Bayes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Works well with high-dimensional text data.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Achieved accuracy: ~90%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Strength: Simple and fast baseline model.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Limitation: Assumes independence between words</a:t>
            </a:r>
            <a:endParaRPr lang="en-US" alt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7286" y="588280"/>
            <a:ext cx="9884001" cy="128089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2 – </a:t>
            </a:r>
            <a:r>
              <a:rPr lang="en-I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Logistic Regression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63486" y="1775427"/>
            <a:ext cx="8338457" cy="3213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as a linear baseline classifier.</a:t>
            </a:r>
            <a:endParaRPr lang="en-US" sz="3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Accuracy: ~92%</a:t>
            </a:r>
            <a:endParaRPr lang="en-US" sz="3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Strength: Interpretable coefficients, efficient for large datasets.</a:t>
            </a:r>
            <a:endParaRPr lang="en-US" sz="3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Limitation: May struggle with non-linear separability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943" y="588280"/>
            <a:ext cx="9851345" cy="128089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3 – </a:t>
            </a:r>
            <a:r>
              <a:rPr lang="en-I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Vector Machine                (SVM)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34612" y="2405228"/>
            <a:ext cx="872277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Kernel: Linear SVC (best performance)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Accuracy: ~94%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Strength: Handles high-dimensional sparse data efficiently.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Limitation: Training time increases with large datasets</a:t>
            </a:r>
            <a:r>
              <a:rPr lang="en-US" alt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8429" y="588280"/>
            <a:ext cx="9633857" cy="1280890"/>
          </a:xfrm>
        </p:spPr>
        <p:txBody>
          <a:bodyPr>
            <a:noAutofit/>
          </a:bodyPr>
          <a:lstStyle/>
          <a:p>
            <a:r>
              <a:rPr lang="nn-NO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4–Ensemble/Hybrid Model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78429" y="1810929"/>
            <a:ext cx="8799512" cy="3236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Combined predictions from Logistic Regression, SVM, and Naive Bayes.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Accuracy: ~95%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Strength: More robust and generalized predictions.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Limitation: Increased computational complexity.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5515" y="624110"/>
            <a:ext cx="9839098" cy="128089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5 – Random Forest</a:t>
            </a:r>
            <a:endParaRPr lang="en-IN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5515" y="1905000"/>
            <a:ext cx="8828315" cy="377762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Estimators: 100 (default)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Accuracy: ~96%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Strength: Handles non-linear relationships well and reduces overfitting using ensemble of decision trees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Limitation: Can be slower to predict for very large datasets and less interpretable than single decision trees.</a:t>
            </a: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4231" y="624110"/>
            <a:ext cx="9240382" cy="128089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230" y="1567543"/>
            <a:ext cx="8537466" cy="4344307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5515" y="624110"/>
            <a:ext cx="9839098" cy="128089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Model Evaluation Summary</a:t>
            </a:r>
            <a:endParaRPr lang="en-IN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5515" y="1741714"/>
            <a:ext cx="9686697" cy="4492176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Compared models: Naive Bayes, Logistic Regression, SVM, Decision Tree, and Random Forest.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Models were tested based on Accuracy, Precision, Recall, and F1-score.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 Forest gave the best accuracy (around 95–96%).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 Forest was chosen as the final model because it gave highest accuracy, handled complex data well, and produced stable results.</a:t>
            </a:r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7031" y="624110"/>
            <a:ext cx="9697582" cy="128089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IN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11528" y="1523294"/>
            <a:ext cx="979714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project successfully built a Resume Classification System using Random Forest and </a:t>
            </a:r>
            <a:r>
              <a:rPr lang="en-US" altLang="en-US" sz="32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Streamlit</a:t>
            </a:r>
            <a:r>
              <a:rPr lang="en-US" alt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model achieved 96% accuracy, showing that machine learning can effectively classify resumes into job categories.</a:t>
            </a:r>
            <a:endParaRPr lang="en-US" alt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system can help recruiters save time and make the shortlisting process faster and smarter.</a:t>
            </a:r>
            <a:endParaRPr lang="en-US" alt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project demonstrates the power of NLP and ML in solving real-world problems.</a:t>
            </a:r>
            <a:endParaRPr lang="en-US" altLang="en-US" sz="3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3660</Words>
  <Application>WPS Presentation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Wingdings 3</vt:lpstr>
      <vt:lpstr>Arial</vt:lpstr>
      <vt:lpstr>Tahoma</vt:lpstr>
      <vt:lpstr>Arial Narrow</vt:lpstr>
      <vt:lpstr>Century Gothic</vt:lpstr>
      <vt:lpstr>Microsoft YaHei</vt:lpstr>
      <vt:lpstr>Arial Unicode MS</vt:lpstr>
      <vt:lpstr>Calibri</vt:lpstr>
      <vt:lpstr>Wisp</vt:lpstr>
      <vt:lpstr>PowerPoint 演示文稿</vt:lpstr>
      <vt:lpstr>Group Members</vt:lpstr>
      <vt:lpstr>Objective</vt:lpstr>
      <vt:lpstr>Dataset Details</vt:lpstr>
      <vt:lpstr>Top Resume Categories</vt:lpstr>
      <vt:lpstr>Exploratory Data Analysis</vt:lpstr>
      <vt:lpstr>Word Cloud Of Resume Text</vt:lpstr>
      <vt:lpstr>Text Preprocessing</vt:lpstr>
      <vt:lpstr> Feature Extraction</vt:lpstr>
      <vt:lpstr>Model 1 – Naive Bayes Classifier</vt:lpstr>
      <vt:lpstr>Model 2 – Logistic Regression</vt:lpstr>
      <vt:lpstr>Model 3 – Support Vector Machine                (SVM)</vt:lpstr>
      <vt:lpstr>Model 4–Ensemble/Hybrid Model</vt:lpstr>
      <vt:lpstr>Model 5 – Random Forest</vt:lpstr>
      <vt:lpstr>Deployment</vt:lpstr>
      <vt:lpstr>Final Model Evaluation Summary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Power Generation Prediction using Regression Excelr : Group 6</dc:title>
  <dc:creator>Parth Prajapati</dc:creator>
  <cp:lastModifiedBy>Evil Larry</cp:lastModifiedBy>
  <cp:revision>23</cp:revision>
  <dcterms:created xsi:type="dcterms:W3CDTF">2025-04-23T18:28:00Z</dcterms:created>
  <dcterms:modified xsi:type="dcterms:W3CDTF">2026-01-26T17:21:20Z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AD9398A3B9DB4A4895A62DC562A343F1_13</vt:lpwstr>
  </property>
  <property fmtid="{D5CDD505-2E9C-101B-9397-08002B2CF9AE}" pid="3" name="KSOProductBuildVer">
    <vt:lpwstr>1033-12.2.0.23196</vt:lpwstr>
  </property>
</Properties>
</file>